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1"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Unit - 1 </a:t>
            </a:r>
            <a:endParaRPr lang="en-US"/>
          </a:p>
        </p:txBody>
      </p:sp>
      <p:sp>
        <p:nvSpPr>
          <p:cNvPr id="3" name="Subtitle 2"/>
          <p:cNvSpPr>
            <a:spLocks noGrp="1"/>
          </p:cNvSpPr>
          <p:nvPr>
            <p:ph type="subTitle" idx="1"/>
          </p:nvPr>
        </p:nvSpPr>
        <p:spPr/>
        <p:txBody>
          <a:bodyPr/>
          <a:p>
            <a:r>
              <a:rPr lang="en-US"/>
              <a:t>Introduction to AI - Artificial Intelligennce</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1.1 AI and It’s Applications</a:t>
            </a:r>
            <a:endParaRPr lang="en-US"/>
          </a:p>
        </p:txBody>
      </p:sp>
      <p:sp>
        <p:nvSpPr>
          <p:cNvPr id="3" name="Content Placeholder 2"/>
          <p:cNvSpPr>
            <a:spLocks noGrp="1"/>
          </p:cNvSpPr>
          <p:nvPr>
            <p:ph idx="1"/>
          </p:nvPr>
        </p:nvSpPr>
        <p:spPr/>
        <p:txBody>
          <a:bodyPr/>
          <a:p>
            <a:pPr lvl="0"/>
            <a:r>
              <a:rPr lang="en-US"/>
              <a:t>What is AI ?</a:t>
            </a:r>
            <a:endParaRPr lang="en-US"/>
          </a:p>
          <a:p>
            <a:pPr lvl="1"/>
            <a:r>
              <a:rPr lang="en-US" altLang="en-US"/>
              <a:t>Artificial Intelligence (AI) is the branch of computer science that builds systems capable of performing tasks that normally require human intelligence — such as learning, reasoning, perception, and language understanding.</a:t>
            </a:r>
            <a:endParaRPr lang="en-US" altLang="en-US" sz="2400"/>
          </a:p>
          <a:p>
            <a:pPr lvl="0"/>
            <a:r>
              <a:rPr lang="en-US" altLang="en-US"/>
              <a:t>The ultimate goal is to create machines that can act autonomously and adaptively to achieve given objectives in complex, uncertain environments.</a:t>
            </a:r>
            <a:endParaRPr lang="en-US" altLang="en-US"/>
          </a:p>
          <a:p>
            <a:pPr lvl="1"/>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Major Pattern &amp; Techniques</a:t>
            </a:r>
            <a:endParaRPr lang="en-US"/>
          </a:p>
        </p:txBody>
      </p:sp>
      <p:sp>
        <p:nvSpPr>
          <p:cNvPr id="3" name="Content Placeholder 2"/>
          <p:cNvSpPr>
            <a:spLocks noGrp="1"/>
          </p:cNvSpPr>
          <p:nvPr>
            <p:ph idx="1"/>
          </p:nvPr>
        </p:nvSpPr>
        <p:spPr/>
        <p:txBody>
          <a:bodyPr>
            <a:normAutofit lnSpcReduction="10000"/>
          </a:bodyPr>
          <a:p>
            <a:r>
              <a:rPr lang="en-US" altLang="en-US"/>
              <a:t>Good Old-Fashioned AI : Logic, rules, knowledge bases, planning. Strong at explicit reasoning and explanation.</a:t>
            </a:r>
            <a:br>
              <a:rPr lang="en-US" altLang="en-US"/>
            </a:br>
            <a:endParaRPr lang="en-US" altLang="en-US"/>
          </a:p>
          <a:p>
            <a:r>
              <a:rPr lang="en-US" altLang="en-US"/>
              <a:t>Statistical / Machine Learning: Learn patterns from data — supervised, unsupervised, reinforcement learning.</a:t>
            </a:r>
            <a:br>
              <a:rPr lang="en-US" altLang="en-US"/>
            </a:br>
            <a:endParaRPr lang="en-US" altLang="en-US"/>
          </a:p>
          <a:p>
            <a:r>
              <a:rPr lang="en-US" altLang="en-US"/>
              <a:t>Deep Learning: Neural networks with many layers (CNNs for vision, RNN/LSTM for sequences, Transformers for language).</a:t>
            </a:r>
            <a:br>
              <a:rPr lang="en-US" altLang="en-US"/>
            </a:br>
            <a:endParaRPr lang="en-US" altLang="en-US"/>
          </a:p>
          <a:p>
            <a:r>
              <a:rPr lang="en-US" altLang="en-US"/>
              <a:t>Hybrid approaches: Symbolic + statistical (neuro-symbolic) to combine reasoning and learning.</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Core components of AI</a:t>
            </a:r>
            <a:endParaRPr lang="en-US"/>
          </a:p>
        </p:txBody>
      </p:sp>
      <p:sp>
        <p:nvSpPr>
          <p:cNvPr id="3" name="Content Placeholder 2"/>
          <p:cNvSpPr>
            <a:spLocks noGrp="1"/>
          </p:cNvSpPr>
          <p:nvPr>
            <p:ph idx="1"/>
          </p:nvPr>
        </p:nvSpPr>
        <p:spPr/>
        <p:txBody>
          <a:bodyPr/>
          <a:p>
            <a:r>
              <a:rPr lang="en-US"/>
              <a:t>Data</a:t>
            </a:r>
            <a:endParaRPr lang="en-US"/>
          </a:p>
          <a:p>
            <a:r>
              <a:rPr lang="en-US"/>
              <a:t>Model</a:t>
            </a:r>
            <a:endParaRPr lang="en-US"/>
          </a:p>
          <a:p>
            <a:r>
              <a:rPr lang="en-US"/>
              <a:t>Learning Algorithm</a:t>
            </a:r>
            <a:endParaRPr lang="en-US"/>
          </a:p>
          <a:p>
            <a:r>
              <a:rPr lang="en-US"/>
              <a:t>Sensors and Actuators</a:t>
            </a:r>
            <a:endParaRPr lang="en-US"/>
          </a:p>
          <a:p>
            <a:r>
              <a:rPr lang="en-US"/>
              <a:t>Evalueation Matric</a:t>
            </a:r>
            <a:endParaRPr lang="en-US"/>
          </a:p>
          <a:p>
            <a:r>
              <a:rPr lang="en-US"/>
              <a:t>Performance Matric</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Representative Algorithms &amp; Models</a:t>
            </a:r>
            <a:endParaRPr lang="en-US"/>
          </a:p>
        </p:txBody>
      </p:sp>
      <p:sp>
        <p:nvSpPr>
          <p:cNvPr id="3" name="Content Placeholder 2"/>
          <p:cNvSpPr>
            <a:spLocks noGrp="1"/>
          </p:cNvSpPr>
          <p:nvPr>
            <p:ph idx="1"/>
          </p:nvPr>
        </p:nvSpPr>
        <p:spPr/>
        <p:txBody>
          <a:bodyPr/>
          <a:p>
            <a:r>
              <a:rPr lang="en-US" altLang="en-US"/>
              <a:t>Decision trees, k-NN</a:t>
            </a:r>
            <a:endParaRPr lang="en-US" altLang="en-US"/>
          </a:p>
          <a:p>
            <a:r>
              <a:rPr lang="en-US" altLang="en-US"/>
              <a:t>Neural networks, CNNs, RNNs, Transformers (deep learning)</a:t>
            </a:r>
            <a:endParaRPr lang="en-US" altLang="en-US"/>
          </a:p>
          <a:p>
            <a:r>
              <a:rPr lang="en-US" altLang="en-US"/>
              <a:t>Search algorithms</a:t>
            </a:r>
            <a:endParaRPr lang="en-US" altLang="en-US"/>
          </a:p>
          <a:p>
            <a:r>
              <a:rPr lang="en-US" altLang="en-US"/>
              <a:t>Bayesian networks (probabilistic reasoning)</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Applications</a:t>
            </a:r>
            <a:endParaRPr lang="en-US"/>
          </a:p>
        </p:txBody>
      </p:sp>
      <p:sp>
        <p:nvSpPr>
          <p:cNvPr id="3" name="Content Placeholder 2"/>
          <p:cNvSpPr>
            <a:spLocks noGrp="1"/>
          </p:cNvSpPr>
          <p:nvPr>
            <p:ph idx="1"/>
          </p:nvPr>
        </p:nvSpPr>
        <p:spPr/>
        <p:txBody>
          <a:bodyPr/>
          <a:p>
            <a:r>
              <a:rPr lang="en-US"/>
              <a:t>Helthcare applications</a:t>
            </a:r>
            <a:endParaRPr lang="en-US"/>
          </a:p>
          <a:p>
            <a:r>
              <a:rPr lang="en-US"/>
              <a:t>Automatic Vahicles</a:t>
            </a:r>
            <a:endParaRPr lang="en-US"/>
          </a:p>
          <a:p>
            <a:r>
              <a:rPr lang="en-US"/>
              <a:t>Finance</a:t>
            </a:r>
            <a:endParaRPr lang="en-US"/>
          </a:p>
          <a:p>
            <a:r>
              <a:rPr lang="en-US"/>
              <a:t>NLP - Natural Language Processing</a:t>
            </a:r>
            <a:endParaRPr lang="en-US"/>
          </a:p>
          <a:p>
            <a:r>
              <a:rPr lang="en-US"/>
              <a:t>Robotics</a:t>
            </a:r>
            <a:endParaRPr lang="en-US"/>
          </a:p>
          <a:p>
            <a:r>
              <a:rPr lang="en-US"/>
              <a:t>Recommandation System</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1.2 Introduction to Knowledge Representations</a:t>
            </a:r>
            <a:endParaRPr lang="en-US"/>
          </a:p>
        </p:txBody>
      </p:sp>
      <p:sp>
        <p:nvSpPr>
          <p:cNvPr id="3" name="Content Placeholder 2"/>
          <p:cNvSpPr>
            <a:spLocks noGrp="1"/>
          </p:cNvSpPr>
          <p:nvPr>
            <p:ph idx="1"/>
          </p:nvPr>
        </p:nvSpPr>
        <p:spPr/>
        <p:txBody>
          <a:bodyPr/>
          <a:p>
            <a:r>
              <a:rPr lang="en-US" altLang="en-US"/>
              <a:t>Artificial intelligence systems operate on data. However, raw data alone does not lead to intelligence. AI must transform data into structured knowledge. </a:t>
            </a:r>
            <a:endParaRPr lang="en-US" altLang="en-US"/>
          </a:p>
          <a:p>
            <a:r>
              <a:rPr lang="en-US" altLang="en-US"/>
              <a:t>KR achieves this by defining formats and methods for organizing information. With clear representations, AI systems solve problems, make decisions, and learn from new experiences.</a:t>
            </a:r>
            <a:endParaRPr lang="en-US" altLang="en-US"/>
          </a:p>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Diagram</a:t>
            </a:r>
            <a:endParaRPr lang="en-US"/>
          </a:p>
        </p:txBody>
      </p:sp>
      <p:pic>
        <p:nvPicPr>
          <p:cNvPr id="4" name="Content Placeholder 3"/>
          <p:cNvPicPr>
            <a:picLocks noChangeAspect="1"/>
          </p:cNvPicPr>
          <p:nvPr>
            <p:ph idx="1"/>
          </p:nvPr>
        </p:nvPicPr>
        <p:blipFill>
          <a:blip r:embed="rId1"/>
          <a:stretch>
            <a:fillRect/>
          </a:stretch>
        </p:blipFill>
        <p:spPr>
          <a:xfrm>
            <a:off x="1735455" y="1825625"/>
            <a:ext cx="8719820" cy="435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Synergy of KR.</a:t>
            </a:r>
            <a:endParaRPr lang="en-US"/>
          </a:p>
        </p:txBody>
      </p:sp>
      <p:sp>
        <p:nvSpPr>
          <p:cNvPr id="3" name="Content Placeholder 2"/>
          <p:cNvSpPr>
            <a:spLocks noGrp="1"/>
          </p:cNvSpPr>
          <p:nvPr>
            <p:ph idx="1"/>
          </p:nvPr>
        </p:nvSpPr>
        <p:spPr>
          <a:xfrm>
            <a:off x="838200" y="1825625"/>
            <a:ext cx="10717530" cy="4785995"/>
          </a:xfrm>
        </p:spPr>
        <p:txBody>
          <a:bodyPr>
            <a:normAutofit fontScale="90000"/>
          </a:bodyPr>
          <a:p>
            <a:r>
              <a:rPr lang="en-US" altLang="en-US"/>
              <a:t>Knowledge as a Foundation: Knowledge provides facts, rules, and data (e.g., traffic laws for self-driving cars). Without it, intelligence lacks the raw material to act.</a:t>
            </a:r>
            <a:endParaRPr lang="en-US" altLang="en-US"/>
          </a:p>
          <a:p>
            <a:r>
              <a:rPr lang="en-US" altLang="en-US"/>
              <a:t>Intelligence as Application: Intelligence applies knowledge to solve problems (e.g., a robot using physics principles to navigate terrain).</a:t>
            </a:r>
            <a:endParaRPr lang="en-US" altLang="en-US"/>
          </a:p>
          <a:p>
            <a:r>
              <a:rPr lang="en-US" altLang="en-US"/>
              <a:t>Interdependence: Static knowledge becomes obsolete without adaptive intelligence. Conversely, intelligence without knowledge cannot reason or learn (e.g., an AI with no medical database cannot diagnose diseases).</a:t>
            </a:r>
            <a:endParaRPr lang="en-US" altLang="en-US"/>
          </a:p>
          <a:p>
            <a:r>
              <a:rPr lang="en-US" altLang="en-US"/>
              <a:t>Synergy: Effective AI systems merge robust knowledge bases (the what) with reasoning algorithms (the how). For example, ChatGPT combines vast language data (knowledge) with transformer models (intelligence) to generate coherent text.</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Core Methods of KR</a:t>
            </a:r>
            <a:endParaRPr lang="en-US"/>
          </a:p>
        </p:txBody>
      </p:sp>
      <p:sp>
        <p:nvSpPr>
          <p:cNvPr id="3" name="Content Placeholder 2"/>
          <p:cNvSpPr>
            <a:spLocks noGrp="1"/>
          </p:cNvSpPr>
          <p:nvPr>
            <p:ph idx="1"/>
          </p:nvPr>
        </p:nvSpPr>
        <p:spPr/>
        <p:txBody>
          <a:bodyPr/>
          <a:p>
            <a:r>
              <a:rPr lang="en-US"/>
              <a:t>1. Logic-Based Systems</a:t>
            </a:r>
            <a:endParaRPr lang="en-US"/>
          </a:p>
          <a:p>
            <a:r>
              <a:rPr lang="en-US" altLang="en-US"/>
              <a:t>Logic-based methods use formal rules to model knowledge. These systems prioritize precision and are ideal for deterministic environments.</a:t>
            </a:r>
            <a:endParaRPr lang="en-US" altLang="en-US"/>
          </a:p>
          <a:p>
            <a:r>
              <a:rPr lang="en-US" altLang="en-US"/>
              <a:t>A) Propositional Logic : Represents knowledge as declarative statements (propositions) linked by logical operators like AND, OR, and NOT.</a:t>
            </a:r>
            <a:endParaRPr lang="en-US" altLang="en-US"/>
          </a:p>
          <a:p>
            <a:pPr marL="0" indent="0">
              <a:buNone/>
            </a:pPr>
            <a:endParaRPr lang="en-US" altLang="en-US"/>
          </a:p>
        </p:txBody>
      </p:sp>
      <p:pic>
        <p:nvPicPr>
          <p:cNvPr id="4" name="Picture 3"/>
          <p:cNvPicPr>
            <a:picLocks noChangeAspect="1"/>
          </p:cNvPicPr>
          <p:nvPr/>
        </p:nvPicPr>
        <p:blipFill>
          <a:blip r:embed="rId1"/>
          <a:srcRect t="20748"/>
          <a:stretch>
            <a:fillRect/>
          </a:stretch>
        </p:blipFill>
        <p:spPr>
          <a:xfrm>
            <a:off x="3365500" y="4417060"/>
            <a:ext cx="5248275" cy="22872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Core Methods of KR</a:t>
            </a:r>
            <a:endParaRPr lang="en-US"/>
          </a:p>
        </p:txBody>
      </p:sp>
      <p:sp>
        <p:nvSpPr>
          <p:cNvPr id="3" name="Content Placeholder 2"/>
          <p:cNvSpPr>
            <a:spLocks noGrp="1"/>
          </p:cNvSpPr>
          <p:nvPr>
            <p:ph idx="1"/>
          </p:nvPr>
        </p:nvSpPr>
        <p:spPr/>
        <p:txBody>
          <a:bodyPr/>
          <a:p>
            <a:r>
              <a:rPr lang="en-US" altLang="en-US"/>
              <a:t>B) First-Order Logic (FOL) : Extends propositional logic by introducing variables, quantifiers, and predicates.</a:t>
            </a:r>
            <a:endParaRPr lang="en-US" altLang="en-US"/>
          </a:p>
          <a:p>
            <a:pPr marL="457200" lvl="1" indent="0">
              <a:buNone/>
            </a:pPr>
            <a:endParaRPr lang="en-US" altLang="en-US"/>
          </a:p>
        </p:txBody>
      </p:sp>
      <p:pic>
        <p:nvPicPr>
          <p:cNvPr id="4" name="Picture 3"/>
          <p:cNvPicPr>
            <a:picLocks noChangeAspect="1"/>
          </p:cNvPicPr>
          <p:nvPr/>
        </p:nvPicPr>
        <p:blipFill>
          <a:blip r:embed="rId1"/>
          <a:stretch>
            <a:fillRect/>
          </a:stretch>
        </p:blipFill>
        <p:spPr>
          <a:xfrm>
            <a:off x="3911600" y="2810510"/>
            <a:ext cx="5314950" cy="2876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Core Methods of KR</a:t>
            </a:r>
            <a:endParaRPr lang="en-US"/>
          </a:p>
        </p:txBody>
      </p:sp>
      <p:sp>
        <p:nvSpPr>
          <p:cNvPr id="3" name="Content Placeholder 2"/>
          <p:cNvSpPr>
            <a:spLocks noGrp="1"/>
          </p:cNvSpPr>
          <p:nvPr>
            <p:ph idx="1"/>
          </p:nvPr>
        </p:nvSpPr>
        <p:spPr/>
        <p:txBody>
          <a:bodyPr/>
          <a:p>
            <a:r>
              <a:rPr lang="en-US"/>
              <a:t>2. </a:t>
            </a:r>
            <a:r>
              <a:rPr lang="en-US" altLang="en-US"/>
              <a:t>Structured Representations.</a:t>
            </a:r>
            <a:endParaRPr lang="en-US" altLang="en-US"/>
          </a:p>
          <a:p>
            <a:r>
              <a:rPr lang="en-US" altLang="en-US"/>
              <a:t>These methods organize knowledge hierarchically or through networks, mimicking how humans categorize information.</a:t>
            </a:r>
            <a:endParaRPr lang="en-US" altLang="en-US"/>
          </a:p>
          <a:p>
            <a:r>
              <a:rPr lang="en-US" altLang="en-US"/>
              <a:t>A) Semantic Networks : Represent knowledge as nodes (concepts) and edges (relationships).</a:t>
            </a:r>
            <a:endParaRPr lang="en-US" altLang="en-US"/>
          </a:p>
          <a:p>
            <a:r>
              <a:rPr lang="en-US" altLang="en-US"/>
              <a:t>Example : For example, "Dog" links to "Animal" via an "Is-A" connection. They simplify inheritance reasoning but lack formal semantics.</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Core Methods of KR</a:t>
            </a:r>
            <a:endParaRPr lang="en-US"/>
          </a:p>
        </p:txBody>
      </p:sp>
      <p:sp>
        <p:nvSpPr>
          <p:cNvPr id="3" name="Content Placeholder 2"/>
          <p:cNvSpPr>
            <a:spLocks noGrp="1"/>
          </p:cNvSpPr>
          <p:nvPr>
            <p:ph idx="1"/>
          </p:nvPr>
        </p:nvSpPr>
        <p:spPr/>
        <p:txBody>
          <a:bodyPr/>
          <a:p>
            <a:r>
              <a:rPr lang="en-US"/>
              <a:t>B) </a:t>
            </a:r>
            <a:r>
              <a:rPr lang="en-US" altLang="en-US"/>
              <a:t>Frames</a:t>
            </a:r>
            <a:endParaRPr lang="en-US" altLang="en-US"/>
          </a:p>
          <a:p>
            <a:r>
              <a:rPr lang="en-US" altLang="en-US"/>
              <a:t>Group related attributes into structured "frames." A "Vehicle" frame may include slots like wheels, engine type, and fuel. Frames excel in default reasoning but struggle with exceptions.</a:t>
            </a:r>
            <a:endParaRPr lang="en-US" altLang="en-US"/>
          </a:p>
          <a:p>
            <a:r>
              <a:rPr lang="en-US" altLang="en-US"/>
              <a:t>C) Ontologies</a:t>
            </a:r>
            <a:endParaRPr lang="en-US" altLang="en-US"/>
          </a:p>
          <a:p>
            <a:r>
              <a:rPr lang="en-US" altLang="en-US"/>
              <a:t>Define concepts, hierarchies, and relationships within a domain using standards like OWL (Web Ontology Language). Ontologies power semantic search engines and healthcare diagnostics by standardizing terminology.</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Core Methods of KR</a:t>
            </a:r>
            <a:endParaRPr lang="en-US"/>
          </a:p>
        </p:txBody>
      </p:sp>
      <p:sp>
        <p:nvSpPr>
          <p:cNvPr id="3" name="Content Placeholder 2"/>
          <p:cNvSpPr>
            <a:spLocks noGrp="1"/>
          </p:cNvSpPr>
          <p:nvPr>
            <p:ph idx="1"/>
          </p:nvPr>
        </p:nvSpPr>
        <p:spPr/>
        <p:txBody>
          <a:bodyPr/>
          <a:p>
            <a:r>
              <a:rPr lang="en-US"/>
              <a:t>3. </a:t>
            </a:r>
            <a:r>
              <a:rPr lang="en-US" altLang="en-US"/>
              <a:t>Probabilistic Models</a:t>
            </a:r>
            <a:endParaRPr lang="en-US" altLang="en-US"/>
          </a:p>
          <a:p>
            <a:r>
              <a:rPr lang="en-US" altLang="en-US"/>
              <a:t>A) Bayesian Networks</a:t>
            </a:r>
            <a:endParaRPr lang="en-US" altLang="en-US"/>
          </a:p>
          <a:p>
            <a:r>
              <a:rPr lang="en-US" altLang="en-US"/>
              <a:t>Bayesian Belief Network (BBN) is a graphical model that represents the probabilistic relationships among variables. It is used to handle uncertainty and make predictions or decisions based on probabilities.</a:t>
            </a:r>
            <a:endParaRPr lang="en-US" altLang="en-US"/>
          </a:p>
          <a:p>
            <a:r>
              <a:rPr lang="en-US" altLang="en-US"/>
              <a:t>Types : </a:t>
            </a:r>
            <a:endParaRPr lang="en-US" altLang="en-US"/>
          </a:p>
          <a:p>
            <a:pPr lvl="1"/>
            <a:r>
              <a:rPr lang="en-US" altLang="en-US"/>
              <a:t>i) Graphical</a:t>
            </a:r>
            <a:endParaRPr lang="en-US" altLang="en-US"/>
          </a:p>
          <a:p>
            <a:pPr lvl="1"/>
            <a:r>
              <a:rPr lang="en-US" altLang="en-US"/>
              <a:t>ii) Conditional</a:t>
            </a:r>
            <a:endParaRPr lang="en-US" altLang="en-US"/>
          </a:p>
          <a:p>
            <a:pPr lvl="1"/>
            <a:r>
              <a:rPr lang="en-US" altLang="en-US"/>
              <a:t>iii) Probabilistic</a:t>
            </a:r>
            <a:endParaRPr lang="en-US" altLang="en-US"/>
          </a:p>
          <a:p>
            <a:pPr lvl="0"/>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Core Methods of KR</a:t>
            </a:r>
            <a:endParaRPr lang="en-US"/>
          </a:p>
        </p:txBody>
      </p:sp>
      <p:pic>
        <p:nvPicPr>
          <p:cNvPr id="4" name="Content Placeholder 3"/>
          <p:cNvPicPr>
            <a:picLocks noChangeAspect="1"/>
          </p:cNvPicPr>
          <p:nvPr>
            <p:ph idx="1"/>
          </p:nvPr>
        </p:nvPicPr>
        <p:blipFill>
          <a:blip r:embed="rId1"/>
          <a:stretch>
            <a:fillRect/>
          </a:stretch>
        </p:blipFill>
        <p:spPr>
          <a:xfrm>
            <a:off x="2277745" y="1884045"/>
            <a:ext cx="7637145" cy="38493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Core Methods of KR</a:t>
            </a:r>
            <a:endParaRPr lang="en-US"/>
          </a:p>
        </p:txBody>
      </p:sp>
      <p:sp>
        <p:nvSpPr>
          <p:cNvPr id="3" name="Content Placeholder 2"/>
          <p:cNvSpPr>
            <a:spLocks noGrp="1"/>
          </p:cNvSpPr>
          <p:nvPr>
            <p:ph idx="1"/>
          </p:nvPr>
        </p:nvSpPr>
        <p:spPr/>
        <p:txBody>
          <a:bodyPr/>
          <a:p>
            <a:r>
              <a:rPr lang="en-US"/>
              <a:t>B) </a:t>
            </a:r>
            <a:r>
              <a:rPr lang="en-US" altLang="en-US"/>
              <a:t>Markov Decision Processes (MDPs)</a:t>
            </a:r>
            <a:endParaRPr lang="en-US" altLang="en-US"/>
          </a:p>
          <a:p>
            <a:r>
              <a:rPr lang="en-US" altLang="en-US"/>
              <a:t>Model sequential decision-making in dynamic environments. MDPs help robotics systems navigate obstacles by evaluating potential actions and rewards.</a:t>
            </a:r>
            <a:endParaRPr lang="en-US" altLang="en-US"/>
          </a:p>
          <a:p>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Core Methods of KR</a:t>
            </a:r>
            <a:endParaRPr lang="en-US"/>
          </a:p>
        </p:txBody>
      </p:sp>
      <p:sp>
        <p:nvSpPr>
          <p:cNvPr id="3" name="Content Placeholder 2"/>
          <p:cNvSpPr>
            <a:spLocks noGrp="1"/>
          </p:cNvSpPr>
          <p:nvPr>
            <p:ph idx="1"/>
          </p:nvPr>
        </p:nvSpPr>
        <p:spPr>
          <a:xfrm>
            <a:off x="838200" y="1825625"/>
            <a:ext cx="11122660" cy="4920615"/>
          </a:xfrm>
        </p:spPr>
        <p:txBody>
          <a:bodyPr>
            <a:normAutofit fontScale="90000" lnSpcReduction="10000"/>
          </a:bodyPr>
          <a:p>
            <a:r>
              <a:rPr lang="en-US"/>
              <a:t>4. Distributed Representations</a:t>
            </a:r>
            <a:endParaRPr lang="en-US"/>
          </a:p>
          <a:p>
            <a:r>
              <a:rPr lang="en-US" altLang="en-US"/>
              <a:t>Modern AI leverages neural networks to encode knowledge as numerical vectors, capturing latent patterns in data.</a:t>
            </a:r>
            <a:endParaRPr lang="en-US" altLang="en-US"/>
          </a:p>
          <a:p>
            <a:endParaRPr lang="en-US" altLang="en-US"/>
          </a:p>
          <a:p>
            <a:r>
              <a:rPr lang="en-US" altLang="en-US"/>
              <a:t>A) Embeddings</a:t>
            </a:r>
            <a:endParaRPr lang="en-US" altLang="en-US"/>
          </a:p>
          <a:p>
            <a:r>
              <a:rPr lang="en-US" altLang="en-US"/>
              <a:t>Convert words, images, or entities into dense vectors. Word embeddings like Word2Vec map synonyms to nearby vectors, enabling semantic analysis.</a:t>
            </a:r>
            <a:endParaRPr lang="en-US" altLang="en-US"/>
          </a:p>
          <a:p>
            <a:endParaRPr lang="en-US" altLang="en-US"/>
          </a:p>
          <a:p>
            <a:r>
              <a:rPr lang="en-US" altLang="en-US"/>
              <a:t>B)Knowledge Graphs</a:t>
            </a:r>
            <a:endParaRPr lang="en-US" altLang="en-US"/>
          </a:p>
          <a:p>
            <a:r>
              <a:rPr lang="en-US" altLang="en-US"/>
              <a:t>Combine graph structures with embeddings to represent entities (e.g., people, places) and their relationships. Google’s Knowledge Graph enhances search results by linking related concepts.</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AI Knowledge Cycle</a:t>
            </a:r>
            <a:endParaRPr lang="en-US"/>
          </a:p>
        </p:txBody>
      </p:sp>
      <p:pic>
        <p:nvPicPr>
          <p:cNvPr id="4" name="Content Placeholder 3"/>
          <p:cNvPicPr>
            <a:picLocks noChangeAspect="1"/>
          </p:cNvPicPr>
          <p:nvPr>
            <p:ph idx="1"/>
          </p:nvPr>
        </p:nvPicPr>
        <p:blipFill>
          <a:blip r:embed="rId1"/>
          <a:srcRect l="2481" t="40041"/>
          <a:stretch>
            <a:fillRect/>
          </a:stretch>
        </p:blipFill>
        <p:spPr>
          <a:xfrm>
            <a:off x="1961515" y="1503680"/>
            <a:ext cx="8830310" cy="44596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Types of Knowledge</a:t>
            </a:r>
            <a:endParaRPr lang="en-US"/>
          </a:p>
        </p:txBody>
      </p:sp>
      <p:sp>
        <p:nvSpPr>
          <p:cNvPr id="3" name="Content Placeholder 2"/>
          <p:cNvSpPr>
            <a:spLocks noGrp="1"/>
          </p:cNvSpPr>
          <p:nvPr>
            <p:ph idx="1"/>
          </p:nvPr>
        </p:nvSpPr>
        <p:spPr/>
        <p:txBody>
          <a:bodyPr/>
          <a:p>
            <a:r>
              <a:rPr lang="en-US"/>
              <a:t>1. Declarative Knowledge - Descriptive Knowledge</a:t>
            </a:r>
            <a:endParaRPr lang="en-US"/>
          </a:p>
          <a:p>
            <a:r>
              <a:rPr lang="en-US"/>
              <a:t>2. Procedural Knowledge - How-To Knowledge</a:t>
            </a:r>
            <a:endParaRPr lang="en-US"/>
          </a:p>
          <a:p>
            <a:r>
              <a:rPr lang="en-US"/>
              <a:t>3. Meta Knowledge</a:t>
            </a:r>
            <a:endParaRPr lang="en-US"/>
          </a:p>
          <a:p>
            <a:r>
              <a:rPr lang="en-US"/>
              <a:t>4. Heuritic Knowledge - Experience Based Knowledge</a:t>
            </a:r>
            <a:endParaRPr lang="en-US"/>
          </a:p>
          <a:p>
            <a:r>
              <a:rPr lang="en-US"/>
              <a:t>5. Common-Sense Knowledge</a:t>
            </a:r>
            <a:endParaRPr lang="en-US"/>
          </a:p>
          <a:p>
            <a:r>
              <a:rPr lang="en-US"/>
              <a:t>6. Domain Specific Knowledge</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1.3 Introductio to Expert System</a:t>
            </a:r>
            <a:endParaRPr lang="en-US"/>
          </a:p>
        </p:txBody>
      </p:sp>
      <p:sp>
        <p:nvSpPr>
          <p:cNvPr id="3" name="Content Placeholder 2"/>
          <p:cNvSpPr>
            <a:spLocks noGrp="1"/>
          </p:cNvSpPr>
          <p:nvPr>
            <p:ph idx="1"/>
          </p:nvPr>
        </p:nvSpPr>
        <p:spPr/>
        <p:txBody>
          <a:bodyPr/>
          <a:p>
            <a:r>
              <a:rPr lang="en-US" altLang="en-US"/>
              <a:t>Expert systems are a crucial subset of artificial intelligence (AI) that simulate the decision-making ability of a human expert. These systems use a knowledge base filled with domain-specific information and rules to interpret and solve complex problems. For example, a medical expert system can analyze a patient’s symptoms and suggest possible diagnoses or treatments. Similarly, a financial expert system can evaluate market trends and recommend investment strategies.</a:t>
            </a: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Why It is Important ?		</a:t>
            </a:r>
            <a:endParaRPr lang="en-US"/>
          </a:p>
        </p:txBody>
      </p:sp>
      <p:sp>
        <p:nvSpPr>
          <p:cNvPr id="3" name="Content Placeholder 2"/>
          <p:cNvSpPr>
            <a:spLocks noGrp="1"/>
          </p:cNvSpPr>
          <p:nvPr>
            <p:ph idx="1"/>
          </p:nvPr>
        </p:nvSpPr>
        <p:spPr/>
        <p:txBody>
          <a:bodyPr/>
          <a:p>
            <a:r>
              <a:rPr lang="en-US"/>
              <a:t>1. Preserving Expertise</a:t>
            </a:r>
            <a:endParaRPr lang="en-US"/>
          </a:p>
          <a:p>
            <a:r>
              <a:rPr lang="en-US"/>
              <a:t>2. Improving Decision-Making</a:t>
            </a:r>
            <a:endParaRPr lang="en-US"/>
          </a:p>
          <a:p>
            <a:r>
              <a:rPr lang="en-US"/>
              <a:t>3. Saving Time and Money</a:t>
            </a:r>
            <a:endParaRPr lang="en-US"/>
          </a:p>
          <a:p>
            <a:r>
              <a:rPr lang="en-US"/>
              <a:t>4. Accessibility</a:t>
            </a:r>
            <a:endParaRPr lang="en-US"/>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Architecture</a:t>
            </a:r>
            <a:endParaRPr lang="en-US"/>
          </a:p>
        </p:txBody>
      </p:sp>
      <p:pic>
        <p:nvPicPr>
          <p:cNvPr id="4" name="Content Placeholder 3"/>
          <p:cNvPicPr>
            <a:picLocks noChangeAspect="1"/>
          </p:cNvPicPr>
          <p:nvPr>
            <p:ph idx="1"/>
          </p:nvPr>
        </p:nvPicPr>
        <p:blipFill>
          <a:blip r:embed="rId1"/>
          <a:stretch>
            <a:fillRect/>
          </a:stretch>
        </p:blipFill>
        <p:spPr>
          <a:xfrm>
            <a:off x="2092325" y="1384935"/>
            <a:ext cx="8002270" cy="2044065"/>
          </a:xfrm>
          <a:prstGeom prst="rect">
            <a:avLst/>
          </a:prstGeom>
        </p:spPr>
      </p:pic>
      <p:sp>
        <p:nvSpPr>
          <p:cNvPr id="5" name="Text Box 4"/>
          <p:cNvSpPr txBox="1"/>
          <p:nvPr/>
        </p:nvSpPr>
        <p:spPr>
          <a:xfrm>
            <a:off x="932180" y="3529013"/>
            <a:ext cx="5080000" cy="2920365"/>
          </a:xfrm>
          <a:prstGeom prst="rect">
            <a:avLst/>
          </a:prstGeom>
        </p:spPr>
        <p:txBody>
          <a:bodyPr>
            <a:spAutoFit/>
          </a:bodyPr>
          <a:p>
            <a:pPr>
              <a:spcAft>
                <a:spcPct val="60000"/>
              </a:spcAft>
            </a:pPr>
            <a:r>
              <a:rPr lang="en-US" sz="2300" b="1"/>
              <a:t>1. </a:t>
            </a:r>
            <a:r>
              <a:rPr sz="2300" b="1"/>
              <a:t>Knowledge Base – The Heart</a:t>
            </a:r>
            <a:endParaRPr sz="2300" b="1"/>
          </a:p>
          <a:p>
            <a:pPr marL="285750" indent="-285750">
              <a:buFont typeface="Arial" panose="020B0604020202020204" pitchFamily="34" charset="0"/>
              <a:buChar char="•"/>
            </a:pPr>
            <a:r>
              <a:t>This is the system’s memory.</a:t>
            </a:r>
          </a:p>
          <a:p>
            <a:pPr marL="285750" indent="-285750">
              <a:buFont typeface="Arial" panose="020B0604020202020204" pitchFamily="34" charset="0"/>
              <a:buChar char="•"/>
            </a:pPr>
            <a:r>
              <a:t> It stores all the important facts, rules, and expert knowledge.</a:t>
            </a:r>
          </a:p>
          <a:p>
            <a:pPr marL="285750" indent="-285750">
              <a:buFont typeface="Arial" panose="020B0604020202020204" pitchFamily="34" charset="0"/>
              <a:buChar char="•"/>
            </a:pPr>
          </a:p>
          <a:p>
            <a:pPr marL="285750" indent="-285750">
              <a:buFont typeface="Arial" panose="020B0604020202020204"/>
              <a:buChar char="•"/>
            </a:pPr>
            <a:r>
              <a:t>If the knowledge is wrong, the system’s advice will also be wrong.</a:t>
            </a:r>
          </a:p>
          <a:p>
            <a:pPr marL="285750" indent="-285750">
              <a:buFont typeface="Arial" panose="020B0604020202020204"/>
              <a:buChar char="•"/>
            </a:pPr>
          </a:p>
          <a:p>
            <a:pPr marL="285750" indent="-285750">
              <a:buFont typeface="Arial" panose="020B0604020202020204"/>
              <a:buChar char="•"/>
            </a:pPr>
            <a:r>
              <a:t>Example: rules for fraud detection in a bank.</a:t>
            </a:r>
          </a:p>
        </p:txBody>
      </p:sp>
      <p:sp>
        <p:nvSpPr>
          <p:cNvPr id="6" name="Text Box 5"/>
          <p:cNvSpPr txBox="1"/>
          <p:nvPr/>
        </p:nvSpPr>
        <p:spPr>
          <a:xfrm>
            <a:off x="6565900" y="3529647"/>
            <a:ext cx="5080000" cy="3166745"/>
          </a:xfrm>
          <a:prstGeom prst="rect">
            <a:avLst/>
          </a:prstGeom>
        </p:spPr>
        <p:txBody>
          <a:bodyPr>
            <a:spAutoFit/>
          </a:bodyPr>
          <a:p>
            <a:pPr>
              <a:spcAft>
                <a:spcPct val="60000"/>
              </a:spcAft>
            </a:pPr>
            <a:r>
              <a:rPr sz="2300" b="1"/>
              <a:t> </a:t>
            </a:r>
            <a:r>
              <a:rPr lang="en-US" sz="2300" b="1"/>
              <a:t>2. </a:t>
            </a:r>
            <a:r>
              <a:rPr sz="2300" b="1"/>
              <a:t>Inference Engine – The Brain</a:t>
            </a:r>
            <a:endParaRPr sz="2300" b="1"/>
          </a:p>
          <a:p>
            <a:pPr marL="285750" indent="-285750">
              <a:buFont typeface="Arial" panose="020B0604020202020204" pitchFamily="34" charset="0"/>
              <a:buChar char="•"/>
            </a:pPr>
            <a:r>
              <a:rPr sz="1600"/>
              <a:t>This is where the thinking happens.</a:t>
            </a:r>
            <a:endParaRPr sz="1600"/>
          </a:p>
          <a:p>
            <a:pPr marL="285750" indent="-285750">
              <a:buFont typeface="Arial" panose="020B0604020202020204" pitchFamily="34" charset="0"/>
              <a:buChar char="•"/>
            </a:pPr>
            <a:r>
              <a:rPr sz="1600"/>
              <a:t>It reads the rules from the Knowledge Base and uses reasoning to reach conclusions.</a:t>
            </a:r>
            <a:endParaRPr sz="1600"/>
          </a:p>
          <a:p>
            <a:pPr marL="285750" indent="-285750">
              <a:buFont typeface="Arial" panose="020B0604020202020204" pitchFamily="34" charset="0"/>
              <a:buChar char="•"/>
            </a:pPr>
            <a:r>
              <a:rPr sz="1600"/>
              <a:t>Two ways it thinks:</a:t>
            </a:r>
            <a:endParaRPr sz="1600"/>
          </a:p>
          <a:p>
            <a:pPr marL="285750" indent="-285750">
              <a:buFont typeface="Arial" panose="020B0604020202020204" pitchFamily="34" charset="0"/>
              <a:buChar char="•"/>
            </a:pPr>
            <a:endParaRPr sz="1600"/>
          </a:p>
          <a:p>
            <a:pPr marL="285750" indent="-285750">
              <a:buFont typeface="Arial" panose="020B0604020202020204"/>
              <a:buChar char="•"/>
            </a:pPr>
            <a:r>
              <a:rPr sz="1600"/>
              <a:t>Forward chaining: Starts from facts → reaches a conclusion</a:t>
            </a:r>
            <a:endParaRPr sz="1600"/>
          </a:p>
          <a:p>
            <a:pPr marL="285750" indent="-285750">
              <a:buFont typeface="Arial" panose="020B0604020202020204"/>
              <a:buChar char="•"/>
            </a:pPr>
            <a:endParaRPr sz="1600"/>
          </a:p>
          <a:p>
            <a:pPr marL="285750" indent="-285750">
              <a:buFont typeface="Arial" panose="020B0604020202020204"/>
              <a:buChar char="•"/>
            </a:pPr>
            <a:r>
              <a:rPr sz="1600"/>
              <a:t>Backward chaining: Starts from a goal → checks if the facts support it</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13105" y="407353"/>
            <a:ext cx="5080000" cy="1689100"/>
          </a:xfrm>
          <a:prstGeom prst="rect">
            <a:avLst/>
          </a:prstGeom>
        </p:spPr>
        <p:txBody>
          <a:bodyPr>
            <a:spAutoFit/>
          </a:bodyPr>
          <a:p>
            <a:pPr>
              <a:spcAft>
                <a:spcPct val="60000"/>
              </a:spcAft>
            </a:pPr>
            <a:r>
              <a:rPr sz="2300" b="1"/>
              <a:t> User Interface – The Bridge</a:t>
            </a:r>
            <a:endParaRPr sz="2300" b="1"/>
          </a:p>
          <a:p>
            <a:pPr marL="285750" indent="-285750">
              <a:buFont typeface="Arial" panose="020B0604020202020204" pitchFamily="34" charset="0"/>
              <a:buChar char="•"/>
            </a:pPr>
            <a:r>
              <a:rPr sz="1600"/>
              <a:t>This is how users talk to the system.</a:t>
            </a:r>
            <a:endParaRPr sz="1600"/>
          </a:p>
          <a:p>
            <a:pPr marL="285750" indent="-285750">
              <a:buFont typeface="Arial" panose="020B0604020202020204"/>
              <a:buChar char="•"/>
            </a:pPr>
            <a:r>
              <a:rPr sz="1600"/>
              <a:t>Users enter questions or problems</a:t>
            </a:r>
            <a:endParaRPr sz="1600"/>
          </a:p>
          <a:p>
            <a:pPr marL="285750" indent="-285750">
              <a:buFont typeface="Arial" panose="020B0604020202020204"/>
              <a:buChar char="•"/>
            </a:pPr>
            <a:r>
              <a:rPr sz="1600"/>
              <a:t>The system gives answers or suggestions</a:t>
            </a:r>
            <a:endParaRPr sz="1600"/>
          </a:p>
          <a:p>
            <a:pPr marL="285750" indent="-285750">
              <a:buFont typeface="Arial" panose="020B0604020202020204"/>
              <a:buChar char="•"/>
            </a:pPr>
            <a:r>
              <a:rPr sz="1600"/>
              <a:t>Has to be simple so even non-experts can use it</a:t>
            </a:r>
            <a:endParaRPr sz="1600"/>
          </a:p>
        </p:txBody>
      </p:sp>
      <p:sp>
        <p:nvSpPr>
          <p:cNvPr id="5" name="Text Box 4"/>
          <p:cNvSpPr txBox="1"/>
          <p:nvPr/>
        </p:nvSpPr>
        <p:spPr>
          <a:xfrm>
            <a:off x="713105" y="2330768"/>
            <a:ext cx="5080000" cy="1689100"/>
          </a:xfrm>
          <a:prstGeom prst="rect">
            <a:avLst/>
          </a:prstGeom>
        </p:spPr>
        <p:txBody>
          <a:bodyPr>
            <a:spAutoFit/>
          </a:bodyPr>
          <a:p>
            <a:pPr>
              <a:spcAft>
                <a:spcPct val="60000"/>
              </a:spcAft>
            </a:pPr>
            <a:r>
              <a:rPr sz="2300" b="1"/>
              <a:t>Explanation Module – The Teacher</a:t>
            </a:r>
            <a:endParaRPr sz="2300" b="1"/>
          </a:p>
          <a:p>
            <a:pPr marL="285750" indent="-285750">
              <a:buFont typeface="Arial" panose="020B0604020202020204" pitchFamily="34" charset="0"/>
              <a:buChar char="•"/>
            </a:pPr>
            <a:r>
              <a:rPr sz="1600"/>
              <a:t>This explains why the system gave a particular answer.</a:t>
            </a:r>
            <a:endParaRPr sz="1600"/>
          </a:p>
          <a:p>
            <a:pPr marL="285750" indent="-285750">
              <a:buFont typeface="Arial" panose="020B0604020202020204"/>
              <a:buChar char="•"/>
            </a:pPr>
            <a:r>
              <a:rPr sz="1600"/>
              <a:t>Builds trust</a:t>
            </a:r>
            <a:endParaRPr sz="1600"/>
          </a:p>
          <a:p>
            <a:pPr marL="285750" indent="-285750">
              <a:buFont typeface="Arial" panose="020B0604020202020204"/>
              <a:buChar char="•"/>
            </a:pPr>
            <a:r>
              <a:rPr sz="1600"/>
              <a:t>Shows the step-by-step reasoning</a:t>
            </a:r>
            <a:endParaRPr sz="1600"/>
          </a:p>
          <a:p>
            <a:pPr marL="285750" indent="-285750">
              <a:buFont typeface="Arial" panose="020B0604020202020204"/>
              <a:buChar char="•"/>
            </a:pPr>
            <a:r>
              <a:rPr sz="1600"/>
              <a:t>Very important in medical, legal, and financial systems</a:t>
            </a:r>
            <a:endParaRPr sz="1600"/>
          </a:p>
        </p:txBody>
      </p:sp>
      <p:sp>
        <p:nvSpPr>
          <p:cNvPr id="7" name="Text Box 6"/>
          <p:cNvSpPr txBox="1"/>
          <p:nvPr/>
        </p:nvSpPr>
        <p:spPr>
          <a:xfrm>
            <a:off x="713105" y="4174490"/>
            <a:ext cx="6671310" cy="1935480"/>
          </a:xfrm>
          <a:prstGeom prst="rect">
            <a:avLst/>
          </a:prstGeom>
        </p:spPr>
        <p:txBody>
          <a:bodyPr wrap="square">
            <a:spAutoFit/>
          </a:bodyPr>
          <a:p>
            <a:pPr>
              <a:spcAft>
                <a:spcPct val="60000"/>
              </a:spcAft>
            </a:pPr>
            <a:r>
              <a:rPr sz="2300" b="1"/>
              <a:t>Knowledge Acquisition Module – The Updater</a:t>
            </a:r>
            <a:endParaRPr sz="2300" b="1"/>
          </a:p>
          <a:p>
            <a:pPr marL="285750" indent="-285750">
              <a:buFont typeface="Arial" panose="020B0604020202020204" pitchFamily="34" charset="0"/>
              <a:buChar char="•"/>
            </a:pPr>
            <a:r>
              <a:rPr sz="1600"/>
              <a:t>This keeps the knowledge base fresh</a:t>
            </a:r>
            <a:r>
              <a:rPr lang="en-US" sz="1600"/>
              <a:t>.</a:t>
            </a:r>
            <a:endParaRPr sz="1600"/>
          </a:p>
          <a:p>
            <a:pPr marL="285750" indent="-285750">
              <a:buFont typeface="Arial" panose="020B0604020202020204" pitchFamily="34" charset="0"/>
              <a:buChar char="•"/>
            </a:pPr>
            <a:r>
              <a:rPr sz="1600"/>
              <a:t>Adds new rules</a:t>
            </a:r>
            <a:endParaRPr sz="1600"/>
          </a:p>
          <a:p>
            <a:pPr marL="285750" indent="-285750">
              <a:buFont typeface="Arial" panose="020B0604020202020204" pitchFamily="34" charset="0"/>
              <a:buChar char="•"/>
            </a:pPr>
            <a:r>
              <a:rPr sz="1600"/>
              <a:t>Updates outdated information</a:t>
            </a:r>
            <a:endParaRPr sz="1600"/>
          </a:p>
          <a:p>
            <a:pPr marL="285750" indent="-285750">
              <a:buFont typeface="Arial" panose="020B0604020202020204" pitchFamily="34" charset="0"/>
              <a:buChar char="•"/>
            </a:pPr>
            <a:r>
              <a:rPr sz="1600"/>
              <a:t>Learns from experts or new data</a:t>
            </a:r>
            <a:endParaRPr sz="1600"/>
          </a:p>
          <a:p>
            <a:pPr marL="285750" indent="-285750">
              <a:buFont typeface="Arial" panose="020B0604020202020204" pitchFamily="34" charset="0"/>
              <a:buChar char="•"/>
            </a:pPr>
            <a:r>
              <a:rPr sz="1600"/>
              <a:t>Without this, the system becomes old and useless over time.</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1.4 Introduction to Reasoning</a:t>
            </a:r>
            <a:endParaRPr lang="en-US"/>
          </a:p>
        </p:txBody>
      </p:sp>
      <p:sp>
        <p:nvSpPr>
          <p:cNvPr id="3" name="Content Placeholder 2"/>
          <p:cNvSpPr>
            <a:spLocks noGrp="1"/>
          </p:cNvSpPr>
          <p:nvPr>
            <p:ph idx="1"/>
          </p:nvPr>
        </p:nvSpPr>
        <p:spPr/>
        <p:txBody>
          <a:bodyPr/>
          <a:p>
            <a:pPr lvl="0"/>
            <a:r>
              <a:rPr lang="en-US" altLang="en-US"/>
              <a:t>In Artificial Intelligence, reasoning is the process by which machines simulate human-like decision-making, problem-solving and predictions. Just as humans use logic to navigate the world, AI systems rely on different types of reasoning to draw conclusions, interpret data and adapt to new situations.</a:t>
            </a:r>
            <a:endParaRPr lang="en-US" altLang="en-US"/>
          </a:p>
          <a:p>
            <a:pPr lvl="0"/>
            <a:endParaRPr lang="en-US" altLang="en-US"/>
          </a:p>
        </p:txBody>
      </p:sp>
      <p:pic>
        <p:nvPicPr>
          <p:cNvPr id="4" name="Picture 3"/>
          <p:cNvPicPr>
            <a:picLocks noChangeAspect="1"/>
          </p:cNvPicPr>
          <p:nvPr/>
        </p:nvPicPr>
        <p:blipFill>
          <a:blip r:embed="rId1"/>
          <a:srcRect r="2230"/>
          <a:stretch>
            <a:fillRect/>
          </a:stretch>
        </p:blipFill>
        <p:spPr>
          <a:xfrm>
            <a:off x="3300095" y="3853815"/>
            <a:ext cx="5765800" cy="29127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Deductive Reasoning</a:t>
            </a:r>
            <a:endParaRPr lang="en-US"/>
          </a:p>
        </p:txBody>
      </p:sp>
      <p:sp>
        <p:nvSpPr>
          <p:cNvPr id="3" name="Content Placeholder 2"/>
          <p:cNvSpPr>
            <a:spLocks noGrp="1"/>
          </p:cNvSpPr>
          <p:nvPr>
            <p:ph idx="1"/>
          </p:nvPr>
        </p:nvSpPr>
        <p:spPr/>
        <p:txBody>
          <a:bodyPr>
            <a:normAutofit fontScale="90000"/>
          </a:bodyPr>
          <a:p>
            <a:r>
              <a:rPr lang="en-US"/>
              <a:t>This is Most Strightforward Reasoning Type.</a:t>
            </a:r>
            <a:endParaRPr lang="en-US"/>
          </a:p>
          <a:p>
            <a:pPr marL="0" indent="0" algn="ctr">
              <a:buNone/>
            </a:pPr>
            <a:r>
              <a:rPr lang="en-US" altLang="en-US"/>
              <a:t>→ From general rule → to specific conclusion</a:t>
            </a:r>
            <a:endParaRPr lang="en-US" altLang="en-US"/>
          </a:p>
          <a:p>
            <a:pPr algn="l"/>
            <a:r>
              <a:rPr lang="en-US" altLang="en-US"/>
              <a:t>Example : </a:t>
            </a:r>
            <a:endParaRPr lang="en-US" altLang="en-US"/>
          </a:p>
          <a:p>
            <a:pPr lvl="1" algn="l"/>
            <a:r>
              <a:rPr lang="en-US" altLang="en-US"/>
              <a:t>Rule: All birds have wings.</a:t>
            </a:r>
            <a:endParaRPr lang="en-US" altLang="en-US"/>
          </a:p>
          <a:p>
            <a:pPr lvl="1" algn="l"/>
            <a:r>
              <a:rPr lang="en-US" altLang="en-US"/>
              <a:t>Case: Sparrow is a bird.</a:t>
            </a:r>
            <a:endParaRPr lang="en-US" altLang="en-US"/>
          </a:p>
          <a:p>
            <a:pPr lvl="1" algn="l"/>
            <a:r>
              <a:rPr lang="en-US" altLang="en-US"/>
              <a:t>Conclusion: Sparrow has wings.</a:t>
            </a:r>
            <a:endParaRPr lang="en-US" altLang="en-US"/>
          </a:p>
          <a:p>
            <a:pPr lvl="0" algn="l"/>
            <a:r>
              <a:rPr lang="en-US" altLang="en-US"/>
              <a:t>Where used in AI:</a:t>
            </a:r>
            <a:endParaRPr lang="en-US" altLang="en-US"/>
          </a:p>
          <a:p>
            <a:pPr lvl="1" algn="l"/>
            <a:r>
              <a:rPr lang="en-US" altLang="en-US"/>
              <a:t>Expert systems</a:t>
            </a:r>
            <a:endParaRPr lang="en-US" altLang="en-US"/>
          </a:p>
          <a:p>
            <a:pPr lvl="1" algn="l"/>
            <a:r>
              <a:rPr lang="en-US" altLang="en-US"/>
              <a:t>Medical diagnosis</a:t>
            </a:r>
            <a:endParaRPr lang="en-US" altLang="en-US"/>
          </a:p>
          <a:p>
            <a:pPr lvl="1" algn="l"/>
            <a:r>
              <a:rPr lang="en-US" altLang="en-US"/>
              <a:t>Rule-based decision making</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Inductive Reasoning</a:t>
            </a:r>
            <a:endParaRPr lang="en-US"/>
          </a:p>
        </p:txBody>
      </p:sp>
      <p:sp>
        <p:nvSpPr>
          <p:cNvPr id="3" name="Content Placeholder 2"/>
          <p:cNvSpPr>
            <a:spLocks noGrp="1"/>
          </p:cNvSpPr>
          <p:nvPr>
            <p:ph idx="1"/>
          </p:nvPr>
        </p:nvSpPr>
        <p:spPr>
          <a:xfrm>
            <a:off x="838200" y="1825625"/>
            <a:ext cx="10920095" cy="4794250"/>
          </a:xfrm>
        </p:spPr>
        <p:txBody>
          <a:bodyPr>
            <a:normAutofit fontScale="85000"/>
          </a:bodyPr>
          <a:p>
            <a:r>
              <a:rPr lang="en-US" altLang="en-US"/>
              <a:t>→ From specific observations → to a general rule</a:t>
            </a:r>
            <a:endParaRPr lang="en-US" altLang="en-US"/>
          </a:p>
          <a:p>
            <a:r>
              <a:rPr lang="en-US" altLang="en-US"/>
              <a:t>Not 100% guaranteed but usually true.</a:t>
            </a:r>
            <a:endParaRPr lang="en-US" altLang="en-US"/>
          </a:p>
          <a:p>
            <a:r>
              <a:rPr lang="en-US" altLang="en-US"/>
              <a:t>AI uses this for learning patterns.</a:t>
            </a:r>
            <a:endParaRPr lang="en-US" altLang="en-US"/>
          </a:p>
          <a:p>
            <a:r>
              <a:rPr lang="en-US" altLang="en-US"/>
              <a:t>Example:</a:t>
            </a:r>
            <a:endParaRPr lang="en-US" altLang="en-US"/>
          </a:p>
          <a:p>
            <a:pPr lvl="1"/>
            <a:r>
              <a:rPr lang="en-US" altLang="en-US"/>
              <a:t>Mango sweet</a:t>
            </a:r>
            <a:endParaRPr lang="en-US" altLang="en-US"/>
          </a:p>
          <a:p>
            <a:pPr lvl="1"/>
            <a:r>
              <a:rPr lang="en-US" altLang="en-US"/>
              <a:t>Apple sweet</a:t>
            </a:r>
            <a:endParaRPr lang="en-US" altLang="en-US"/>
          </a:p>
          <a:p>
            <a:pPr lvl="1"/>
            <a:r>
              <a:rPr lang="en-US" altLang="en-US"/>
              <a:t>Banana sweet</a:t>
            </a:r>
            <a:endParaRPr lang="en-US" altLang="en-US"/>
          </a:p>
          <a:p>
            <a:pPr lvl="1"/>
            <a:r>
              <a:rPr lang="en-US" altLang="en-US"/>
              <a:t>Conclusion: Most fruits are sweet.</a:t>
            </a:r>
            <a:endParaRPr lang="en-US" altLang="en-US"/>
          </a:p>
          <a:p>
            <a:r>
              <a:rPr lang="en-US" altLang="en-US"/>
              <a:t>Where used in AI:</a:t>
            </a:r>
            <a:endParaRPr lang="en-US" altLang="en-US"/>
          </a:p>
          <a:p>
            <a:pPr lvl="1"/>
            <a:r>
              <a:rPr lang="en-US" altLang="en-US"/>
              <a:t>Machine learning training</a:t>
            </a:r>
            <a:endParaRPr lang="en-US" altLang="en-US"/>
          </a:p>
          <a:p>
            <a:pPr lvl="1"/>
            <a:r>
              <a:rPr lang="en-US" altLang="en-US"/>
              <a:t>Pattern recognition</a:t>
            </a:r>
            <a:endParaRPr lang="en-US" altLang="en-US"/>
          </a:p>
          <a:p>
            <a:pPr lvl="1"/>
            <a:r>
              <a:rPr lang="en-US" altLang="en-US"/>
              <a:t>Recommendations</a:t>
            </a: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 Abductive Reasoning</a:t>
            </a:r>
            <a:endParaRPr lang="en-US"/>
          </a:p>
        </p:txBody>
      </p:sp>
      <p:sp>
        <p:nvSpPr>
          <p:cNvPr id="3" name="Content Placeholder 2"/>
          <p:cNvSpPr>
            <a:spLocks noGrp="1"/>
          </p:cNvSpPr>
          <p:nvPr>
            <p:ph idx="1"/>
          </p:nvPr>
        </p:nvSpPr>
        <p:spPr/>
        <p:txBody>
          <a:bodyPr>
            <a:normAutofit/>
          </a:bodyPr>
          <a:p>
            <a:r>
              <a:rPr lang="en-US" altLang="en-US"/>
              <a:t>→ Best possible explanation from incomplete data</a:t>
            </a:r>
            <a:endParaRPr lang="en-US" altLang="en-US"/>
          </a:p>
          <a:p>
            <a:r>
              <a:rPr lang="en-US" altLang="en-US"/>
              <a:t>AI doesn’t know everything, so it guesses the most likely cause.</a:t>
            </a:r>
            <a:endParaRPr lang="en-US" altLang="en-US"/>
          </a:p>
          <a:p>
            <a:r>
              <a:rPr lang="en-US" altLang="en-US"/>
              <a:t>Example:</a:t>
            </a:r>
            <a:endParaRPr lang="en-US" altLang="en-US"/>
          </a:p>
          <a:p>
            <a:pPr lvl="1"/>
            <a:r>
              <a:rPr lang="en-US" altLang="en-US"/>
              <a:t>Observation: Patient has fever + cough</a:t>
            </a:r>
            <a:endParaRPr lang="en-US" altLang="en-US"/>
          </a:p>
          <a:p>
            <a:pPr lvl="1"/>
            <a:r>
              <a:rPr lang="en-US" altLang="en-US"/>
              <a:t>Possible Explanation: Maybe they have an infection.</a:t>
            </a:r>
            <a:endParaRPr lang="en-US" altLang="en-US"/>
          </a:p>
          <a:p>
            <a:pPr lvl="0"/>
            <a:r>
              <a:rPr lang="en-US" altLang="en-US"/>
              <a:t>Where used in AI:</a:t>
            </a:r>
            <a:endParaRPr lang="en-US" altLang="en-US"/>
          </a:p>
          <a:p>
            <a:pPr lvl="1"/>
            <a:r>
              <a:rPr lang="en-US" altLang="en-US"/>
              <a:t>Medical diagnosis</a:t>
            </a:r>
            <a:endParaRPr lang="en-US" altLang="en-US"/>
          </a:p>
          <a:p>
            <a:pPr lvl="1"/>
            <a:r>
              <a:rPr lang="en-US" altLang="en-US"/>
              <a:t>Fault detection</a:t>
            </a:r>
            <a:endParaRPr lang="en-US" altLang="en-US"/>
          </a:p>
          <a:p>
            <a:pPr lvl="1"/>
            <a:r>
              <a:rPr lang="en-US" altLang="en-US"/>
              <a:t>Crime investigation systems</a:t>
            </a: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4. Analogical Reasoning</a:t>
            </a:r>
            <a:endParaRPr lang="en-US"/>
          </a:p>
        </p:txBody>
      </p:sp>
      <p:sp>
        <p:nvSpPr>
          <p:cNvPr id="3" name="Content Placeholder 2"/>
          <p:cNvSpPr>
            <a:spLocks noGrp="1"/>
          </p:cNvSpPr>
          <p:nvPr>
            <p:ph idx="1"/>
          </p:nvPr>
        </p:nvSpPr>
        <p:spPr/>
        <p:txBody>
          <a:bodyPr>
            <a:normAutofit/>
          </a:bodyPr>
          <a:p>
            <a:r>
              <a:rPr lang="en-US" altLang="en-US"/>
              <a:t>Solving a new problem by comparing it with a similar known problem</a:t>
            </a:r>
            <a:endParaRPr lang="en-US" altLang="en-US"/>
          </a:p>
          <a:p>
            <a:r>
              <a:rPr lang="en-US" altLang="en-US"/>
              <a:t>Just like how we say, “Yeh situation us jaisi lag rahi hai…”</a:t>
            </a:r>
            <a:endParaRPr lang="en-US" altLang="en-US"/>
          </a:p>
          <a:p>
            <a:r>
              <a:rPr lang="en-US" altLang="en-US"/>
              <a:t>Example:</a:t>
            </a:r>
            <a:endParaRPr lang="en-US" altLang="en-US"/>
          </a:p>
          <a:p>
            <a:pPr lvl="1"/>
            <a:r>
              <a:rPr lang="en-US" altLang="en-US"/>
              <a:t>If you know how to solve a 2×2 Rubik cube,</a:t>
            </a:r>
            <a:endParaRPr lang="en-US" altLang="en-US"/>
          </a:p>
          <a:p>
            <a:pPr lvl="1"/>
            <a:r>
              <a:rPr lang="en-US" altLang="en-US"/>
              <a:t>you compare it with the 3×3 cube and find similar patterns.</a:t>
            </a:r>
            <a:endParaRPr lang="en-US" altLang="en-US"/>
          </a:p>
          <a:p>
            <a:r>
              <a:rPr lang="en-US" altLang="en-US"/>
              <a:t>Where used in AI:</a:t>
            </a:r>
            <a:endParaRPr lang="en-US" altLang="en-US"/>
          </a:p>
          <a:p>
            <a:pPr lvl="1"/>
            <a:r>
              <a:rPr lang="en-US" altLang="en-US"/>
              <a:t>Case-based reasoning</a:t>
            </a:r>
            <a:endParaRPr lang="en-US" altLang="en-US"/>
          </a:p>
          <a:p>
            <a:pPr lvl="1"/>
            <a:r>
              <a:rPr lang="en-US" altLang="en-US"/>
              <a:t>Chatbots</a:t>
            </a:r>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5. Common Sense Reasoning</a:t>
            </a:r>
            <a:endParaRPr lang="en-US"/>
          </a:p>
        </p:txBody>
      </p:sp>
      <p:sp>
        <p:nvSpPr>
          <p:cNvPr id="3" name="Content Placeholder 2"/>
          <p:cNvSpPr>
            <a:spLocks noGrp="1"/>
          </p:cNvSpPr>
          <p:nvPr>
            <p:ph idx="1"/>
          </p:nvPr>
        </p:nvSpPr>
        <p:spPr/>
        <p:txBody>
          <a:bodyPr/>
          <a:p>
            <a:r>
              <a:rPr lang="en-US" altLang="en-US"/>
              <a:t>→ Reasoning using everyday knowledge that humans naturally have</a:t>
            </a:r>
            <a:endParaRPr lang="en-US" altLang="en-US"/>
          </a:p>
          <a:p>
            <a:r>
              <a:rPr lang="en-US" altLang="en-US"/>
              <a:t>AI tries to act like a normal human would.</a:t>
            </a:r>
            <a:endParaRPr lang="en-US" altLang="en-US"/>
          </a:p>
          <a:p>
            <a:endParaRPr lang="en-US" altLang="en-US"/>
          </a:p>
          <a:p>
            <a:r>
              <a:rPr lang="en-US" altLang="en-US"/>
              <a:t>Example:</a:t>
            </a:r>
            <a:endParaRPr lang="en-US" altLang="en-US"/>
          </a:p>
          <a:p>
            <a:r>
              <a:rPr lang="en-US" altLang="en-US"/>
              <a:t>If a boy drops a glass,</a:t>
            </a:r>
            <a:endParaRPr lang="en-US" altLang="en-US"/>
          </a:p>
          <a:p>
            <a:r>
              <a:rPr lang="en-US" altLang="en-US"/>
              <a:t>common sense says the glass will break.</a:t>
            </a:r>
            <a:endParaRPr lang="en-US" altLang="en-US"/>
          </a:p>
          <a:p>
            <a:endParaRPr lang="en-US" altLang="en-US"/>
          </a:p>
          <a:p>
            <a:r>
              <a:rPr lang="en-US" altLang="en-US"/>
              <a:t>Used in Robots...</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6. Monotonic Reasoning</a:t>
            </a:r>
            <a:endParaRPr lang="en-US"/>
          </a:p>
        </p:txBody>
      </p:sp>
      <p:sp>
        <p:nvSpPr>
          <p:cNvPr id="3" name="Content Placeholder 2"/>
          <p:cNvSpPr>
            <a:spLocks noGrp="1"/>
          </p:cNvSpPr>
          <p:nvPr>
            <p:ph idx="1"/>
          </p:nvPr>
        </p:nvSpPr>
        <p:spPr/>
        <p:txBody>
          <a:bodyPr/>
          <a:p>
            <a:r>
              <a:rPr lang="en-US" altLang="en-US"/>
              <a:t>Once a conclusion is made, it never changes</a:t>
            </a:r>
            <a:endParaRPr lang="en-US" altLang="en-US"/>
          </a:p>
          <a:p>
            <a:r>
              <a:rPr lang="en-US" altLang="en-US"/>
              <a:t>Even if new information arrives, the old conclusion stays fixed.</a:t>
            </a:r>
            <a:endParaRPr lang="en-US" altLang="en-US"/>
          </a:p>
          <a:p>
            <a:endParaRPr lang="en-US" altLang="en-US"/>
          </a:p>
          <a:p>
            <a:r>
              <a:rPr lang="en-US" altLang="en-US"/>
              <a:t>Example:</a:t>
            </a:r>
            <a:endParaRPr lang="en-US" altLang="en-US"/>
          </a:p>
          <a:p>
            <a:r>
              <a:rPr lang="en-US" altLang="en-US"/>
              <a:t>If rules say:</a:t>
            </a:r>
            <a:endParaRPr lang="en-US" altLang="en-US"/>
          </a:p>
          <a:p>
            <a:r>
              <a:rPr lang="en-US" altLang="en-US"/>
              <a:t>“All students must attend class,”</a:t>
            </a:r>
            <a:endParaRPr lang="en-US" altLang="en-US"/>
          </a:p>
          <a:p>
            <a:r>
              <a:rPr lang="en-US" altLang="en-US"/>
              <a:t>even if more details come later, the rule doesn’t change.</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7. Non-Monotonic Reasoning</a:t>
            </a:r>
            <a:endParaRPr lang="en-US"/>
          </a:p>
        </p:txBody>
      </p:sp>
      <p:sp>
        <p:nvSpPr>
          <p:cNvPr id="3" name="Content Placeholder 2"/>
          <p:cNvSpPr>
            <a:spLocks noGrp="1"/>
          </p:cNvSpPr>
          <p:nvPr>
            <p:ph idx="1"/>
          </p:nvPr>
        </p:nvSpPr>
        <p:spPr/>
        <p:txBody>
          <a:bodyPr/>
          <a:p>
            <a:r>
              <a:rPr lang="en-US" altLang="en-US"/>
              <a:t>→ Conclusions change when new information arrives</a:t>
            </a:r>
            <a:endParaRPr lang="en-US" altLang="en-US"/>
          </a:p>
          <a:p>
            <a:r>
              <a:rPr lang="en-US" altLang="en-US"/>
              <a:t>Just like real life — we change our mind when new facts appear.</a:t>
            </a:r>
            <a:endParaRPr lang="en-US" altLang="en-US"/>
          </a:p>
          <a:p>
            <a:endParaRPr lang="en-US" altLang="en-US"/>
          </a:p>
          <a:p>
            <a:r>
              <a:rPr lang="en-US" altLang="en-US"/>
              <a:t>Example:</a:t>
            </a:r>
            <a:endParaRPr lang="en-US" altLang="en-US"/>
          </a:p>
          <a:p>
            <a:r>
              <a:rPr lang="en-US" altLang="en-US"/>
              <a:t>You believe: “Birds can fly.”</a:t>
            </a:r>
            <a:endParaRPr lang="en-US" altLang="en-US"/>
          </a:p>
          <a:p>
            <a:r>
              <a:rPr lang="en-US" altLang="en-US"/>
              <a:t>Then you learn about penguins.</a:t>
            </a:r>
            <a:endParaRPr lang="en-US" altLang="en-US"/>
          </a:p>
          <a:p>
            <a:r>
              <a:rPr lang="en-US" altLang="en-US"/>
              <a:t>Now your conclusion changes.</a:t>
            </a: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8. Fuzzy Reasoning</a:t>
            </a:r>
            <a:endParaRPr lang="en-US"/>
          </a:p>
        </p:txBody>
      </p:sp>
      <p:sp>
        <p:nvSpPr>
          <p:cNvPr id="3" name="Content Placeholder 2"/>
          <p:cNvSpPr>
            <a:spLocks noGrp="1"/>
          </p:cNvSpPr>
          <p:nvPr>
            <p:ph idx="1"/>
          </p:nvPr>
        </p:nvSpPr>
        <p:spPr/>
        <p:txBody>
          <a:bodyPr>
            <a:normAutofit/>
          </a:bodyPr>
          <a:p>
            <a:r>
              <a:rPr lang="en-US" altLang="en-US"/>
              <a:t>Works with degrees of truth, not just True/False</a:t>
            </a:r>
            <a:endParaRPr lang="en-US" altLang="en-US"/>
          </a:p>
          <a:p>
            <a:r>
              <a:rPr lang="en-US" altLang="en-US"/>
              <a:t>Because real life is not black and white — it’s all shades.</a:t>
            </a:r>
            <a:endParaRPr lang="en-US" altLang="en-US"/>
          </a:p>
          <a:p>
            <a:r>
              <a:rPr lang="en-US" altLang="en-US"/>
              <a:t>Example:</a:t>
            </a:r>
            <a:endParaRPr lang="en-US" altLang="en-US"/>
          </a:p>
          <a:p>
            <a:pPr lvl="1"/>
            <a:r>
              <a:rPr lang="en-US" altLang="en-US"/>
              <a:t>Temperature:</a:t>
            </a:r>
            <a:endParaRPr lang="en-US" altLang="en-US"/>
          </a:p>
          <a:p>
            <a:pPr lvl="2"/>
            <a:r>
              <a:rPr lang="en-US" altLang="en-US"/>
              <a:t>Not just hot or cold</a:t>
            </a:r>
            <a:endParaRPr lang="en-US" altLang="en-US"/>
          </a:p>
          <a:p>
            <a:pPr lvl="2"/>
            <a:r>
              <a:rPr lang="en-US" altLang="en-US"/>
              <a:t>But 60% hot and 40% warm</a:t>
            </a:r>
            <a:endParaRPr lang="en-US" altLang="en-US"/>
          </a:p>
          <a:p>
            <a:r>
              <a:rPr lang="en-US" altLang="en-US"/>
              <a:t>Where used in AI:</a:t>
            </a:r>
            <a:endParaRPr lang="en-US" altLang="en-US"/>
          </a:p>
          <a:p>
            <a:pPr lvl="1"/>
            <a:r>
              <a:rPr lang="en-US" altLang="en-US"/>
              <a:t>AC temperature control	</a:t>
            </a: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1.5 Introduction to Intelligent Agent in an AI </a:t>
            </a:r>
            <a:endParaRPr lang="en-US"/>
          </a:p>
        </p:txBody>
      </p:sp>
      <p:sp>
        <p:nvSpPr>
          <p:cNvPr id="3" name="Content Placeholder 2"/>
          <p:cNvSpPr>
            <a:spLocks noGrp="1"/>
          </p:cNvSpPr>
          <p:nvPr>
            <p:ph idx="1"/>
          </p:nvPr>
        </p:nvSpPr>
        <p:spPr/>
        <p:txBody>
          <a:bodyPr>
            <a:normAutofit lnSpcReduction="10000"/>
          </a:bodyPr>
          <a:p>
            <a:r>
              <a:rPr lang="en-US" altLang="en-US"/>
              <a:t>Picture an intelligent agent as that one friend who doesn’t just sit around — they observe, think, and act.</a:t>
            </a:r>
            <a:endParaRPr lang="en-US" altLang="en-US"/>
          </a:p>
          <a:p>
            <a:r>
              <a:rPr lang="en-US" altLang="en-US"/>
              <a:t>In AI, an intelligent agent is basically a system that:</a:t>
            </a:r>
            <a:endParaRPr lang="en-US" altLang="en-US"/>
          </a:p>
          <a:p>
            <a:r>
              <a:rPr lang="en-US" altLang="en-US"/>
              <a:t>Perceives its environment</a:t>
            </a:r>
            <a:endParaRPr lang="en-US" altLang="en-US"/>
          </a:p>
          <a:p>
            <a:r>
              <a:rPr lang="en-US" altLang="en-US"/>
              <a:t>Decides what to do based on what it knows</a:t>
            </a:r>
            <a:endParaRPr lang="en-US" altLang="en-US"/>
          </a:p>
          <a:p>
            <a:r>
              <a:rPr lang="en-US" altLang="en-US"/>
              <a:t>Acts in a way that moves it toward some goal</a:t>
            </a:r>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Basicallt it is doing this tasks.</a:t>
            </a:r>
            <a:endParaRPr lang="en-US"/>
          </a:p>
        </p:txBody>
      </p:sp>
      <p:sp>
        <p:nvSpPr>
          <p:cNvPr id="3" name="Content Placeholder 2"/>
          <p:cNvSpPr>
            <a:spLocks noGrp="1"/>
          </p:cNvSpPr>
          <p:nvPr>
            <p:ph idx="1"/>
          </p:nvPr>
        </p:nvSpPr>
        <p:spPr/>
        <p:txBody>
          <a:bodyPr/>
          <a:p>
            <a:r>
              <a:rPr lang="en-US" altLang="en-US"/>
              <a:t>Perception and Information Processing</a:t>
            </a:r>
            <a:endParaRPr lang="en-US" altLang="en-US"/>
          </a:p>
          <a:p>
            <a:r>
              <a:rPr lang="en-US" altLang="en-US"/>
              <a:t>Reasoning and Inference</a:t>
            </a:r>
            <a:endParaRPr lang="en-US" altLang="en-US"/>
          </a:p>
          <a:p>
            <a:r>
              <a:rPr lang="en-US" altLang="en-US"/>
              <a:t>Decision-Making Under Uncertainty:</a:t>
            </a:r>
            <a:endParaRPr lang="en-US" altLang="en-US"/>
          </a:p>
          <a:p>
            <a:r>
              <a:rPr lang="en-US" altLang="en-US"/>
              <a:t>Adaptation and Learning: </a:t>
            </a:r>
            <a:endParaRPr lang="en-US" altLang="en-US"/>
          </a:p>
        </p:txBody>
      </p:sp>
      <p:pic>
        <p:nvPicPr>
          <p:cNvPr id="4" name="Picture 3"/>
          <p:cNvPicPr>
            <a:picLocks noChangeAspect="1"/>
          </p:cNvPicPr>
          <p:nvPr/>
        </p:nvPicPr>
        <p:blipFill>
          <a:blip r:embed="rId1"/>
          <a:stretch>
            <a:fillRect/>
          </a:stretch>
        </p:blipFill>
        <p:spPr>
          <a:xfrm>
            <a:off x="7336155" y="3429000"/>
            <a:ext cx="4497705" cy="29895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PEAS Representation of AI Agent</a:t>
            </a:r>
            <a:endParaRPr lang="en-US"/>
          </a:p>
        </p:txBody>
      </p:sp>
      <p:sp>
        <p:nvSpPr>
          <p:cNvPr id="3" name="Content Placeholder 2"/>
          <p:cNvSpPr>
            <a:spLocks noGrp="1"/>
          </p:cNvSpPr>
          <p:nvPr>
            <p:ph idx="1"/>
          </p:nvPr>
        </p:nvSpPr>
        <p:spPr/>
        <p:txBody>
          <a:bodyPr/>
          <a:p>
            <a:r>
              <a:rPr lang="en-US"/>
              <a:t>1. Performance Measure</a:t>
            </a:r>
            <a:endParaRPr lang="en-US"/>
          </a:p>
          <a:p>
            <a:r>
              <a:rPr lang="en-US"/>
              <a:t>2. Environment</a:t>
            </a:r>
            <a:endParaRPr lang="en-US"/>
          </a:p>
          <a:p>
            <a:r>
              <a:rPr lang="en-US"/>
              <a:t>3. Actuators</a:t>
            </a:r>
            <a:endParaRPr lang="en-US"/>
          </a:p>
          <a:p>
            <a:r>
              <a:rPr lang="en-US"/>
              <a:t>4. Sensors</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1.6 Introduction to NLP</a:t>
            </a:r>
            <a:endParaRPr lang="en-US"/>
          </a:p>
        </p:txBody>
      </p:sp>
      <p:sp>
        <p:nvSpPr>
          <p:cNvPr id="3" name="Content Placeholder 2"/>
          <p:cNvSpPr>
            <a:spLocks noGrp="1"/>
          </p:cNvSpPr>
          <p:nvPr>
            <p:ph idx="1"/>
          </p:nvPr>
        </p:nvSpPr>
        <p:spPr/>
        <p:txBody>
          <a:bodyPr/>
          <a:p>
            <a:r>
              <a:rPr lang="en-US" altLang="en-US"/>
              <a:t>Natural Language Processing (NLP) enables computers to understand and interpret human language. While computers excel at processing structured data, such as spreadsheets or databases, natural language in its unstructured form (text, speech, etc.) presents a unique challenge. NLP bridges this gap by allowing machines to process and understand human languages, making it an essential tool in modern AI systems.</a:t>
            </a:r>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Need for NLP</a:t>
            </a:r>
            <a:endParaRPr lang="en-US"/>
          </a:p>
        </p:txBody>
      </p:sp>
      <p:sp>
        <p:nvSpPr>
          <p:cNvPr id="3" name="Content Placeholder 2"/>
          <p:cNvSpPr>
            <a:spLocks noGrp="1"/>
          </p:cNvSpPr>
          <p:nvPr>
            <p:ph idx="1"/>
          </p:nvPr>
        </p:nvSpPr>
        <p:spPr/>
        <p:txBody>
          <a:bodyPr>
            <a:normAutofit fontScale="80000"/>
          </a:bodyPr>
          <a:p>
            <a:r>
              <a:rPr lang="en-US" altLang="en-US"/>
              <a:t>The growing amount of unstructured natural language data in the world makes it increasingly important for machines to comprehend and analyze it effectively. By training NLP models, we can equip computers to process language data in a variety of forms, from written text to voice input. With centuries of human-written literature and massive data available, it’s vital to teach computers to interpret that wealth of information. However, this task comes with significant challenges, such as resolving ambiguities in meaning, Named-Entity Recognition (NER), and coreference resolution.</a:t>
            </a:r>
            <a:endParaRPr lang="en-US" altLang="en-US"/>
          </a:p>
          <a:p>
            <a:r>
              <a:rPr lang="en-US" altLang="en-US"/>
              <a:t>While NLP systems are improving, they still face difficulties in understanding the exact meaning of sentences.</a:t>
            </a:r>
            <a:endParaRPr lang="en-US" altLang="en-US"/>
          </a:p>
          <a:p>
            <a:r>
              <a:rPr lang="en-US" altLang="en-US"/>
              <a:t>For example, consider the phrase: "The boy radiated fire-like vibes." Does it refer to a motivating personality or imply something literal? Such ambiguities make text analysis complex for computers.</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NLP Pipeline</a:t>
            </a:r>
            <a:endParaRPr lang="en-US"/>
          </a:p>
        </p:txBody>
      </p:sp>
      <p:pic>
        <p:nvPicPr>
          <p:cNvPr id="4" name="Content Placeholder 3"/>
          <p:cNvPicPr>
            <a:picLocks noChangeAspect="1"/>
          </p:cNvPicPr>
          <p:nvPr>
            <p:ph idx="1"/>
          </p:nvPr>
        </p:nvPicPr>
        <p:blipFill>
          <a:blip r:embed="rId1"/>
          <a:stretch>
            <a:fillRect/>
          </a:stretch>
        </p:blipFill>
        <p:spPr>
          <a:xfrm>
            <a:off x="4342130" y="304165"/>
            <a:ext cx="7565390" cy="644779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Applications of NLP</a:t>
            </a:r>
            <a:endParaRPr lang="en-US"/>
          </a:p>
        </p:txBody>
      </p:sp>
      <p:sp>
        <p:nvSpPr>
          <p:cNvPr id="3" name="Content Placeholder 2"/>
          <p:cNvSpPr>
            <a:spLocks noGrp="1"/>
          </p:cNvSpPr>
          <p:nvPr>
            <p:ph idx="1"/>
          </p:nvPr>
        </p:nvSpPr>
        <p:spPr/>
        <p:txBody>
          <a:bodyPr>
            <a:normAutofit fontScale="90000" lnSpcReduction="10000"/>
          </a:bodyPr>
          <a:p>
            <a:r>
              <a:rPr lang="en-US" altLang="en-US"/>
              <a:t>Speech Recognition: Converting spoken language into text, which powers voice assistants like Siri and Alexa.</a:t>
            </a:r>
            <a:endParaRPr lang="en-US" altLang="en-US"/>
          </a:p>
          <a:p>
            <a:r>
              <a:rPr lang="en-US" altLang="en-US"/>
              <a:t>Language Translation: Automatically translating text from one language to another (e.g., Google Translate).</a:t>
            </a:r>
            <a:endParaRPr lang="en-US" altLang="en-US"/>
          </a:p>
          <a:p>
            <a:r>
              <a:rPr lang="en-US" altLang="en-US"/>
              <a:t>Chatbots and Virtual Assistants: Understanding and responding to user queries in natural language (e.g., customer support).</a:t>
            </a:r>
            <a:endParaRPr lang="en-US" altLang="en-US"/>
          </a:p>
          <a:p>
            <a:r>
              <a:rPr lang="en-US" altLang="en-US"/>
              <a:t>Text Summarization: Condensing long documents into shorter summaries without losing important information.</a:t>
            </a:r>
            <a:endParaRPr lang="en-US" altLang="en-US"/>
          </a:p>
          <a:p>
            <a:r>
              <a:rPr lang="en-US" altLang="en-US"/>
              <a:t>Sentiment Analysis: Understanding opinions expressed in text, which is useful in social media monitoring, product reviews, and customer feedback analysis.</a:t>
            </a:r>
            <a:endParaRPr lang="en-US" altLang="en-US"/>
          </a:p>
          <a:p>
            <a:r>
              <a:rPr lang="en-US" altLang="en-US"/>
              <a:t>Information Retrieval.</a:t>
            </a:r>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Thank You</a:t>
            </a:r>
            <a:endParaRPr lang="en-US"/>
          </a:p>
        </p:txBody>
      </p:sp>
      <p:sp>
        <p:nvSpPr>
          <p:cNvPr id="5" name="Subtitle 4"/>
          <p:cNvSpPr>
            <a:spLocks noGrp="1"/>
          </p:cNvSpPr>
          <p:nvPr>
            <p:ph type="subTitle" idx="1"/>
          </p:nvPr>
        </p:nvSpPr>
        <p:spPr/>
        <p:txBody>
          <a:bodyPr/>
          <a:p>
            <a:r>
              <a:rPr lang="en-US"/>
              <a:t>Vraj Suratwala</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11772</Words>
  <Application>WPS Presentation</Application>
  <PresentationFormat>Widescreen</PresentationFormat>
  <Paragraphs>320</Paragraphs>
  <Slides>40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40</vt:i4>
      </vt:variant>
    </vt:vector>
  </HeadingPairs>
  <TitlesOfParts>
    <vt:vector size="49" baseType="lpstr">
      <vt:lpstr>Arial</vt:lpstr>
      <vt:lpstr>SimSun</vt:lpstr>
      <vt:lpstr>Wingdings</vt:lpstr>
      <vt:lpstr>Calibri Light</vt:lpstr>
      <vt:lpstr>Calibri</vt:lpstr>
      <vt:lpstr>Microsoft YaHei</vt:lpstr>
      <vt:lpstr>Arial Unicode MS</vt:lpstr>
      <vt:lpstr>Arial</vt:lpstr>
      <vt:lpstr>Office Theme</vt:lpstr>
      <vt:lpstr>Unit - 1 </vt:lpstr>
      <vt:lpstr>1.1 AI and It’s Implimentations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Vraj Suratwala</dc:creator>
  <cp:lastModifiedBy>Vraj Suratwala</cp:lastModifiedBy>
  <cp:revision>33</cp:revision>
  <dcterms:created xsi:type="dcterms:W3CDTF">2025-07-23T00:59:00Z</dcterms:created>
  <dcterms:modified xsi:type="dcterms:W3CDTF">2025-12-04T09:39:49Z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D2C3DE32E7704D99A55026F6E4E0CDCE_11</vt:lpwstr>
  </property>
  <property fmtid="{D5CDD505-2E9C-101B-9397-08002B2CF9AE}" pid="3" name="KSOProductBuildVer">
    <vt:lpwstr>1033-12.2.0.23155</vt:lpwstr>
  </property>
</Properties>
</file>